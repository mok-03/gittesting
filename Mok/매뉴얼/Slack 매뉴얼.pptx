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5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1" autoAdjust="0"/>
    <p:restoredTop sz="94660"/>
  </p:normalViewPr>
  <p:slideViewPr>
    <p:cSldViewPr snapToGrid="0">
      <p:cViewPr varScale="1">
        <p:scale>
          <a:sx n="67" d="100"/>
          <a:sy n="67" d="100"/>
        </p:scale>
        <p:origin x="35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5F021-2AD3-4DB0-8D8B-80BBF37ED6F7}" type="datetimeFigureOut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154D1-EFF8-4089-B45E-DD900B222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074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949700" y="2903538"/>
            <a:ext cx="4203700" cy="549275"/>
          </a:xfrm>
        </p:spPr>
        <p:txBody>
          <a:bodyPr anchor="b"/>
          <a:lstStyle>
            <a:lvl1pPr algn="ctr">
              <a:defRPr sz="2800">
                <a:latin typeface="-윤고딕330" panose="020B0600000101010101" charset="-127"/>
                <a:ea typeface="-윤고딕330" panose="020B0600000101010101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724400" y="5229229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5767A50E-F653-49FE-9A02-3C692E641817}" type="datetime1">
              <a:rPr lang="ko-KR" altLang="en-US" smtClean="0"/>
              <a:t>2021-10-26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622967" y="2801938"/>
            <a:ext cx="285716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액자 7"/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87"/>
            </a:avLst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1EA886-DD6E-4F4D-BC01-53ED515A49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596" y="5604121"/>
            <a:ext cx="702808" cy="32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843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7BD6-AB64-47F1-87C7-BD7E92F954E0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r>
              <a:rPr lang="en-US" altLang="ko-KR" dirty="0" smtClean="0"/>
              <a:t>P</a:t>
            </a:r>
            <a:endParaRPr lang="ko-KR" altLang="en-US" dirty="0"/>
          </a:p>
        </p:txBody>
      </p:sp>
      <p:sp>
        <p:nvSpPr>
          <p:cNvPr id="7" name="액자 6"/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87"/>
            </a:avLst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037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8B04-646F-4ED3-952D-3C37B5F9E382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12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6CD2-F0ED-4EC0-9164-7D1CE1341CE4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98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1F13-9873-4B9A-A17A-0F81457FCC70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371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6B4E-14E0-4CB2-92CC-1D06508710D8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23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F0AA4-F41F-4CFD-AA29-676B8BA4803E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010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44BE-A551-4F81-B9DC-87119DD4A049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408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A026E-62EB-4C0C-BCBE-1FE432D10B7F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97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C43A-D75B-4CA6-BD81-E13776ED17ED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85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64A8-F85C-45B9-A781-4D6F85824FC6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12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3168E-51D7-4898-B6F4-E1D6216A36F8}" type="datetime1">
              <a:rPr lang="ko-KR" altLang="en-US" smtClean="0"/>
              <a:t>2021-10-26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3DDE2-6F8F-41D1-B9A3-1A791E278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7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lack.com/intl/ko-kr/downloads/window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70793" y="5319651"/>
            <a:ext cx="2450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2021.05.06</a:t>
            </a:r>
            <a:endParaRPr lang="ko-KR" altLang="en-US" sz="11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spc="-1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-윤고딕330" panose="02030504000101010101" pitchFamily="18" charset="-127"/>
                <a:ea typeface="-윤고딕330" panose="02030504000101010101" pitchFamily="18" charset="-127"/>
                <a:cs typeface="MV Boli" panose="02000500030200090000" pitchFamily="2" charset="0"/>
              </a:rPr>
              <a:t>Slack  </a:t>
            </a:r>
            <a:r>
              <a:rPr lang="ko-KR" altLang="en-US" b="1" spc="-1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-윤고딕330" panose="02030504000101010101" pitchFamily="18" charset="-127"/>
                <a:ea typeface="-윤고딕330" panose="02030504000101010101" pitchFamily="18" charset="-127"/>
                <a:cs typeface="MV Boli" panose="02000500030200090000" pitchFamily="2" charset="0"/>
              </a:rPr>
              <a:t>매뉴얼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54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d">
            <a:extLst>
              <a:ext uri="{FF2B5EF4-FFF2-40B4-BE49-F238E27FC236}">
                <a16:creationId xmlns:a16="http://schemas.microsoft.com/office/drawing/2014/main" id="{8FE6971A-DA8E-4078-AE40-7778A9BBD32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054088" y="1263945"/>
            <a:ext cx="4500631" cy="87716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1)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Slack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	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0" lvl="1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           1.0)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 장단점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	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0" lvl="1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	1.0.1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)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장점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                       P3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0" lvl="1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                1.0.2)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단점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                        P4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1.1)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 다운로드                       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	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rId2" action="ppaction://hlinksldjump"/>
              </a:rPr>
              <a:t>P5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1.2)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로그인                          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	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P6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</a:t>
            </a: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1.3)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slack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데스크톱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연동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	P7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     1.3.1) 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연동 시 로그인 오류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  P8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1.4) 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새 워크스페이스 생성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   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     1.4.1)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워크 스페이스가 없는 상태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P9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     1.4.2)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워크 스페이스가 있는 상태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P10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1.5) 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채널 생성                                      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P11</a:t>
            </a: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1.6) 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채팅                                      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2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1.5.1) 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스레드 기능                                 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P12</a:t>
            </a:r>
          </a:p>
          <a:p>
            <a:pPr lvl="2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1.5.2) 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호출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@   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              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P13</a:t>
            </a:r>
          </a:p>
          <a:p>
            <a:pPr lvl="2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1.5.3) 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채팅 검색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              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P14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1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    1.7) 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채널 프로그램 추가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  <a:hlinkClick r:id="" action="ppaction://noaction"/>
            </a:endParaRPr>
          </a:p>
          <a:p>
            <a:pPr lvl="2">
              <a:lnSpc>
                <a:spcPct val="150000"/>
              </a:lnSpc>
              <a:buClr>
                <a:prstClr val="white"/>
              </a:buClr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1.7.1</a:t>
            </a:r>
            <a:r>
              <a:rPr lang="en-US" altLang="ko-KR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)  </a:t>
            </a:r>
            <a:r>
              <a:rPr lang="ko-KR" altLang="en-US" sz="1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스레드 기능                                 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P15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  <a:hlinkClick r:id="" action="ppaction://noaction"/>
            </a:endParaRPr>
          </a:p>
          <a:p>
            <a:pPr lvl="1">
              <a:lnSpc>
                <a:spcPct val="150000"/>
              </a:lnSpc>
              <a:buClr>
                <a:prstClr val="white"/>
              </a:buClr>
              <a:defRPr/>
            </a:pP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  <a:hlinkClick r:id="" action="ppaction://noaction"/>
            </a:endParaRPr>
          </a:p>
          <a:p>
            <a:pPr lvl="1">
              <a:lnSpc>
                <a:spcPct val="150000"/>
              </a:lnSpc>
              <a:buClr>
                <a:prstClr val="white"/>
              </a:buClr>
              <a:defRPr/>
            </a:pP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                 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lvl="1">
              <a:lnSpc>
                <a:spcPct val="150000"/>
              </a:lnSpc>
              <a:buClr>
                <a:prstClr val="white"/>
              </a:buClr>
              <a:defRPr/>
            </a:pP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  <a:hlinkClick r:id="" action="ppaction://noaction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</a:t>
            </a: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  <a:hlinkClick r:id="" action="ppaction://noaction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  <a:hlinkClick r:id="" action="ppaction://noaction"/>
            </a:endParaRPr>
          </a:p>
          <a:p>
            <a:pPr lvl="1">
              <a:lnSpc>
                <a:spcPct val="150000"/>
              </a:lnSpc>
              <a:buClr>
                <a:prstClr val="white"/>
              </a:buClr>
              <a:defRPr/>
            </a:pPr>
            <a:endParaRPr lang="en-US" altLang="ko-KR" sz="12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  <a:hlinkClick r:id="" action="ppaction://noaction"/>
            </a:endParaRPr>
          </a:p>
          <a:p>
            <a:pPr lvl="1">
              <a:lnSpc>
                <a:spcPct val="150000"/>
              </a:lnSpc>
              <a:buClr>
                <a:prstClr val="white"/>
              </a:buClr>
              <a:defRPr/>
            </a:pP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   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</a:t>
            </a: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  <a:hlinkClick r:id="" action="ppaction://noaction"/>
              </a:rPr>
              <a:t>                      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628650" lvl="1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1085850" lvl="2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r>
              <a:rPr lang="en-US" altLang="ko-KR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@</a:t>
            </a:r>
            <a:r>
              <a:rPr lang="ko-KR" altLang="en-US" sz="12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돋움" panose="020B0600000101010101" pitchFamily="50" charset="-127"/>
                <a:ea typeface="돋움" panose="020B0600000101010101" pitchFamily="50" charset="-127"/>
                <a:cs typeface="YDIYGO320" charset="0"/>
              </a:rPr>
              <a:t>기능</a:t>
            </a:r>
            <a:endParaRPr lang="en-US" altLang="ko-KR" sz="12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  <a:p>
            <a:pPr marL="171450" indent="-171450">
              <a:lnSpc>
                <a:spcPct val="150000"/>
              </a:lnSpc>
              <a:buClr>
                <a:prstClr val="white"/>
              </a:buClr>
              <a:buFontTx/>
              <a:buChar char="-"/>
              <a:defRPr/>
            </a:pPr>
            <a:endParaRPr lang="en-US" altLang="ko-KR" sz="80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돋움" panose="020B0600000101010101" pitchFamily="50" charset="-127"/>
              <a:ea typeface="돋움" panose="020B0600000101010101" pitchFamily="50" charset="-127"/>
              <a:cs typeface="YDIYGO32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77424" y="449484"/>
            <a:ext cx="2549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목</a:t>
            </a:r>
            <a:r>
              <a:rPr lang="en-US" altLang="ko-KR" sz="2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		</a:t>
            </a:r>
            <a:r>
              <a:rPr lang="ko-KR" altLang="en-US" sz="2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차</a:t>
            </a:r>
            <a:endParaRPr lang="ko-KR" altLang="en-US" sz="1600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0404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2</a:t>
            </a:fld>
            <a:r>
              <a:rPr lang="en-US" altLang="ko-KR" smtClean="0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91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장점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47677" y="1841158"/>
            <a:ext cx="10615432" cy="4281849"/>
          </a:xfrm>
        </p:spPr>
        <p:txBody>
          <a:bodyPr lIns="144000">
            <a:noAutofit/>
          </a:bodyPr>
          <a:lstStyle/>
          <a:p>
            <a:pPr marL="514350" indent="-514350" fontAlgn="base">
              <a:lnSpc>
                <a:spcPct val="10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ko-KR" altLang="en-US" b="1" cap="all" dirty="0" err="1" smtClean="0"/>
              <a:t>서드파티</a:t>
            </a:r>
            <a:r>
              <a:rPr lang="ko-KR" altLang="en-US" b="1" cap="all" dirty="0"/>
              <a:t> 앱과의 </a:t>
            </a:r>
            <a:r>
              <a:rPr lang="ko-KR" altLang="en-US" b="1" cap="all" dirty="0" smtClean="0"/>
              <a:t>연동</a:t>
            </a:r>
            <a:endParaRPr lang="en-US" altLang="ko-KR" b="1" cap="all" dirty="0" smtClean="0"/>
          </a:p>
          <a:p>
            <a:pPr marL="457200" lvl="2" indent="0" fontAlgn="base">
              <a:lnSpc>
                <a:spcPct val="100000"/>
              </a:lnSpc>
              <a:spcBef>
                <a:spcPts val="1200"/>
              </a:spcBef>
              <a:buNone/>
            </a:pPr>
            <a:r>
              <a:rPr lang="ko-KR" altLang="en-US" sz="1800" dirty="0" smtClean="0">
                <a:latin typeface="Bahnschrift" panose="020B0502040204020203" pitchFamily="34" charset="0"/>
              </a:rPr>
              <a:t>“</a:t>
            </a:r>
            <a:r>
              <a:rPr lang="ko-KR" altLang="en-US" sz="1800" dirty="0">
                <a:latin typeface="Bahnschrift" panose="020B0502040204020203" pitchFamily="34" charset="0"/>
              </a:rPr>
              <a:t>외부 툴과의 연동” 이 쉽다는 강력한 강점을 </a:t>
            </a:r>
            <a:r>
              <a:rPr lang="ko-KR" altLang="en-US" sz="1800" dirty="0" smtClean="0">
                <a:latin typeface="Bahnschrift" panose="020B0502040204020203" pitchFamily="34" charset="0"/>
              </a:rPr>
              <a:t>가졌다 </a:t>
            </a:r>
            <a:r>
              <a:rPr lang="en-US" altLang="ko-KR" sz="1800" dirty="0" smtClean="0">
                <a:latin typeface="Bahnschrift" panose="020B0502040204020203" pitchFamily="34" charset="0"/>
              </a:rPr>
              <a:t>.</a:t>
            </a:r>
            <a:r>
              <a:rPr lang="ko-KR" altLang="en-US" sz="1800" dirty="0" smtClean="0">
                <a:latin typeface="Bahnschrift" panose="020B0502040204020203" pitchFamily="34" charset="0"/>
              </a:rPr>
              <a:t>현재</a:t>
            </a:r>
            <a:r>
              <a:rPr lang="en-US" altLang="ko-KR" sz="1800" dirty="0" smtClean="0">
                <a:latin typeface="Bahnschrift" panose="020B0502040204020203" pitchFamily="34" charset="0"/>
              </a:rPr>
              <a:t> </a:t>
            </a:r>
            <a:r>
              <a:rPr lang="en-US" altLang="ko-KR" sz="1800" dirty="0">
                <a:latin typeface="Bahnschrift" panose="020B0502040204020203" pitchFamily="34" charset="0"/>
              </a:rPr>
              <a:t>Slack </a:t>
            </a:r>
            <a:r>
              <a:rPr lang="ko-KR" altLang="en-US" sz="1800" dirty="0" smtClean="0">
                <a:latin typeface="Bahnschrift" panose="020B0502040204020203" pitchFamily="34" charset="0"/>
              </a:rPr>
              <a:t>은 </a:t>
            </a:r>
            <a:r>
              <a:rPr lang="en-US" altLang="ko-KR" sz="1800" dirty="0" err="1">
                <a:latin typeface="Bahnschrift" panose="020B0502040204020203" pitchFamily="34" charset="0"/>
              </a:rPr>
              <a:t>Gsuite</a:t>
            </a:r>
            <a:r>
              <a:rPr lang="en-US" altLang="ko-KR" sz="1800" dirty="0">
                <a:latin typeface="Bahnschrift" panose="020B0502040204020203" pitchFamily="34" charset="0"/>
              </a:rPr>
              <a:t>, Trello, </a:t>
            </a:r>
            <a:r>
              <a:rPr lang="en-US" altLang="ko-KR" sz="1800" dirty="0" err="1">
                <a:latin typeface="Bahnschrift" panose="020B0502040204020203" pitchFamily="34" charset="0"/>
              </a:rPr>
              <a:t>Git</a:t>
            </a:r>
            <a:r>
              <a:rPr lang="en-US" altLang="ko-KR" sz="1800" dirty="0">
                <a:latin typeface="Bahnschrift" panose="020B0502040204020203" pitchFamily="34" charset="0"/>
              </a:rPr>
              <a:t> </a:t>
            </a:r>
            <a:r>
              <a:rPr lang="ko-KR" altLang="en-US" sz="1800" dirty="0">
                <a:latin typeface="Bahnschrift" panose="020B0502040204020203" pitchFamily="34" charset="0"/>
              </a:rPr>
              <a:t>등 많은 </a:t>
            </a:r>
            <a:r>
              <a:rPr lang="ko-KR" altLang="en-US" sz="1800" dirty="0" smtClean="0">
                <a:latin typeface="Bahnschrift" panose="020B0502040204020203" pitchFamily="34" charset="0"/>
              </a:rPr>
              <a:t>기업이</a:t>
            </a:r>
            <a:r>
              <a:rPr lang="ko-KR" altLang="en-US" sz="1800" dirty="0">
                <a:latin typeface="Bahnschrift" panose="020B0502040204020203" pitchFamily="34" charset="0"/>
              </a:rPr>
              <a:t> 사용하는 외부 툴과의 연동을 지원한다</a:t>
            </a:r>
            <a:r>
              <a:rPr lang="en-US" altLang="ko-KR" sz="1800" dirty="0" smtClean="0">
                <a:latin typeface="Bahnschrift" panose="020B0502040204020203" pitchFamily="34" charset="0"/>
              </a:rPr>
              <a:t>.</a:t>
            </a:r>
            <a:endParaRPr lang="en-US" altLang="ko-KR" b="1" cap="all" dirty="0">
              <a:latin typeface="Bahnschrift" panose="020B0502040204020203" pitchFamily="34" charset="0"/>
            </a:endParaRPr>
          </a:p>
          <a:p>
            <a:pPr marL="514350" indent="-514350" fontAlgn="base">
              <a:lnSpc>
                <a:spcPct val="10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ko-KR" altLang="en-US" b="1" cap="all" dirty="0" smtClean="0"/>
              <a:t>편리한 채팅 시스템</a:t>
            </a:r>
            <a:endParaRPr lang="en-US" altLang="ko-KR" b="1" cap="all" dirty="0" smtClean="0"/>
          </a:p>
          <a:p>
            <a:pPr marL="457200" lvl="1" indent="0" fontAlgn="base">
              <a:lnSpc>
                <a:spcPct val="100000"/>
              </a:lnSpc>
              <a:spcBef>
                <a:spcPts val="1200"/>
              </a:spcBef>
              <a:buNone/>
            </a:pPr>
            <a:r>
              <a:rPr lang="ko-KR" altLang="en-US" sz="2000" dirty="0">
                <a:latin typeface="Bahnschrift" panose="020B0502040204020203" pitchFamily="34" charset="0"/>
              </a:rPr>
              <a:t> </a:t>
            </a:r>
            <a:r>
              <a:rPr lang="en-US" altLang="ko-KR" sz="2000" dirty="0">
                <a:latin typeface="Bahnschrift" panose="020B0502040204020203" pitchFamily="34" charset="0"/>
              </a:rPr>
              <a:t>Slack</a:t>
            </a:r>
            <a:r>
              <a:rPr lang="ko-KR" altLang="en-US" sz="2000" dirty="0">
                <a:latin typeface="Bahnschrift" panose="020B0502040204020203" pitchFamily="34" charset="0"/>
              </a:rPr>
              <a:t>에서는 </a:t>
            </a:r>
            <a:r>
              <a:rPr lang="en-US" altLang="ko-KR" sz="2000" dirty="0">
                <a:latin typeface="Bahnschrift" panose="020B0502040204020203" pitchFamily="34" charset="0"/>
              </a:rPr>
              <a:t>Thread</a:t>
            </a:r>
            <a:r>
              <a:rPr lang="ko-KR" altLang="en-US" sz="2000" dirty="0">
                <a:latin typeface="Bahnschrift" panose="020B0502040204020203" pitchFamily="34" charset="0"/>
              </a:rPr>
              <a:t>라는 기능을 통하여서 소규모 채팅이 </a:t>
            </a:r>
            <a:r>
              <a:rPr lang="ko-KR" altLang="en-US" sz="2000" dirty="0" smtClean="0">
                <a:latin typeface="Bahnschrift" panose="020B0502040204020203" pitchFamily="34" charset="0"/>
              </a:rPr>
              <a:t>가능하며</a:t>
            </a:r>
            <a:r>
              <a:rPr lang="ko-KR" altLang="en-US" sz="2000" dirty="0">
                <a:latin typeface="Bahnschrift" panose="020B0502040204020203" pitchFamily="34" charset="0"/>
              </a:rPr>
              <a:t> 이는 기존의 채널과 연동이 </a:t>
            </a:r>
            <a:r>
              <a:rPr lang="ko-KR" altLang="en-US" sz="2000" dirty="0" smtClean="0">
                <a:latin typeface="Bahnschrift" panose="020B0502040204020203" pitchFamily="34" charset="0"/>
              </a:rPr>
              <a:t>되기 </a:t>
            </a:r>
            <a:r>
              <a:rPr lang="ko-KR" altLang="en-US" sz="2000" dirty="0">
                <a:latin typeface="Bahnschrift" panose="020B0502040204020203" pitchFamily="34" charset="0"/>
              </a:rPr>
              <a:t>때문에 어디까지 업무 진행이 되었는지 파악하기 </a:t>
            </a:r>
            <a:r>
              <a:rPr lang="ko-KR" altLang="en-US" sz="2000" dirty="0" smtClean="0">
                <a:latin typeface="Bahnschrift" panose="020B0502040204020203" pitchFamily="34" charset="0"/>
              </a:rPr>
              <a:t>쉽다</a:t>
            </a:r>
            <a:r>
              <a:rPr lang="en-US" altLang="ko-KR" sz="2000" dirty="0" smtClean="0">
                <a:latin typeface="Bahnschrift" panose="020B0502040204020203" pitchFamily="34" charset="0"/>
              </a:rPr>
              <a:t>.</a:t>
            </a:r>
            <a:endParaRPr lang="en-US" altLang="ko-KR" b="1" cap="all" dirty="0" smtClean="0"/>
          </a:p>
          <a:p>
            <a:pPr marL="0" indent="0" fontAlgn="base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ko-KR" b="1" cap="all" dirty="0" smtClean="0"/>
              <a:t>3)</a:t>
            </a:r>
            <a:r>
              <a:rPr lang="en-US" altLang="ko-KR" b="1" cap="all" dirty="0"/>
              <a:t> </a:t>
            </a:r>
            <a:r>
              <a:rPr lang="ko-KR" altLang="en-US" b="1" cap="all" dirty="0"/>
              <a:t>손쉬운 대화 내용 </a:t>
            </a:r>
            <a:r>
              <a:rPr lang="ko-KR" altLang="en-US" b="1" cap="all" dirty="0" smtClean="0"/>
              <a:t>검색</a:t>
            </a:r>
            <a:endParaRPr lang="ko-KR" altLang="en-US" b="1" cap="all" dirty="0"/>
          </a:p>
          <a:p>
            <a:pPr marL="457200" lvl="1" indent="0" fontAlgn="base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ko-KR" sz="2000" dirty="0">
                <a:latin typeface="Bahnschrift" panose="020B0502040204020203" pitchFamily="34" charset="0"/>
              </a:rPr>
              <a:t>S</a:t>
            </a:r>
            <a:r>
              <a:rPr lang="en-US" altLang="ko-KR" sz="2000" dirty="0" smtClean="0">
                <a:latin typeface="Bahnschrift" panose="020B0502040204020203" pitchFamily="34" charset="0"/>
              </a:rPr>
              <a:t>lack</a:t>
            </a:r>
            <a:r>
              <a:rPr lang="ko-KR" altLang="en-US" sz="2000" dirty="0" smtClean="0">
                <a:latin typeface="Bahnschrift" panose="020B0502040204020203" pitchFamily="34" charset="0"/>
              </a:rPr>
              <a:t>은</a:t>
            </a:r>
            <a:r>
              <a:rPr lang="ko-KR" altLang="en-US" sz="2000" dirty="0">
                <a:latin typeface="Bahnschrift" panose="020B0502040204020203" pitchFamily="34" charset="0"/>
              </a:rPr>
              <a:t> 검색 기능을 통해 이전에 진행한 대화 내용을 쉽게 검색할 수 </a:t>
            </a:r>
            <a:r>
              <a:rPr lang="ko-KR" altLang="en-US" sz="2000" dirty="0" smtClean="0">
                <a:latin typeface="Bahnschrift" panose="020B0502040204020203" pitchFamily="34" charset="0"/>
              </a:rPr>
              <a:t>있다</a:t>
            </a:r>
            <a:r>
              <a:rPr lang="en-US" altLang="ko-KR" sz="2000" dirty="0" smtClean="0">
                <a:latin typeface="Bahnschrift" panose="020B0502040204020203" pitchFamily="34" charset="0"/>
              </a:rPr>
              <a:t>. </a:t>
            </a:r>
            <a:r>
              <a:rPr lang="ko-KR" altLang="en-US" sz="2000" dirty="0" smtClean="0">
                <a:latin typeface="Bahnschrift" panose="020B0502040204020203" pitchFamily="34" charset="0"/>
              </a:rPr>
              <a:t>공유한 파일도 쉽게 찾을 수 있다</a:t>
            </a:r>
            <a:r>
              <a:rPr lang="en-US" altLang="ko-KR" sz="2000" dirty="0" smtClean="0">
                <a:latin typeface="Bahnschrift" panose="020B0502040204020203" pitchFamily="34" charset="0"/>
              </a:rPr>
              <a:t>.</a:t>
            </a:r>
            <a:endParaRPr lang="en-US" altLang="ko-KR" sz="2800" b="1" cap="all" dirty="0">
              <a:latin typeface="Bahnschrift" panose="020B0502040204020203" pitchFamily="34" charset="0"/>
            </a:endParaRPr>
          </a:p>
          <a:p>
            <a:pPr marL="0" indent="0" fontAlgn="base">
              <a:lnSpc>
                <a:spcPct val="100000"/>
              </a:lnSpc>
              <a:buNone/>
            </a:pPr>
            <a:endParaRPr lang="ko-KR" altLang="en-US" b="1" cap="all" dirty="0"/>
          </a:p>
          <a:p>
            <a:pPr marL="457200" lvl="1" indent="0" fontAlgn="base">
              <a:lnSpc>
                <a:spcPct val="100000"/>
              </a:lnSpc>
              <a:buNone/>
            </a:pPr>
            <a:r>
              <a:rPr lang="en-US" altLang="ko-KR" sz="1600" dirty="0"/>
              <a:t/>
            </a:r>
            <a:br>
              <a:rPr lang="en-US" altLang="ko-KR" sz="1600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3</a:t>
            </a:fld>
            <a:r>
              <a:rPr lang="en-US" altLang="ko-KR" smtClean="0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490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</a:t>
            </a:r>
            <a:r>
              <a:rPr lang="ko-KR" altLang="en-US" dirty="0" smtClean="0"/>
              <a:t>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7235" y="1690688"/>
            <a:ext cx="10296646" cy="19940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4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947677" y="1841158"/>
            <a:ext cx="10615432" cy="1365029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fontAlgn="base">
              <a:lnSpc>
                <a:spcPct val="10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ko-KR" altLang="en-US" b="1" cap="all" dirty="0" smtClean="0"/>
              <a:t>혼용의 문제</a:t>
            </a:r>
            <a:endParaRPr lang="en-US" altLang="ko-KR" b="1" cap="all" dirty="0" smtClean="0"/>
          </a:p>
          <a:p>
            <a:pPr marL="457200" lvl="2" indent="0" fontAlgn="base">
              <a:lnSpc>
                <a:spcPct val="100000"/>
              </a:lnSpc>
              <a:spcBef>
                <a:spcPts val="1200"/>
              </a:spcBef>
              <a:buNone/>
            </a:pPr>
            <a:r>
              <a:rPr lang="ko-KR" altLang="en-US" dirty="0" smtClean="0"/>
              <a:t>대화 창을 </a:t>
            </a:r>
            <a:r>
              <a:rPr lang="ko-KR" altLang="en-US" dirty="0"/>
              <a:t>기준으로 모든 대화가 오가다 보니</a:t>
            </a:r>
            <a:r>
              <a:rPr lang="en-US" altLang="ko-KR" dirty="0"/>
              <a:t>, </a:t>
            </a:r>
            <a:r>
              <a:rPr lang="ko-KR" altLang="en-US" dirty="0"/>
              <a:t>하나의 </a:t>
            </a:r>
            <a:r>
              <a:rPr lang="ko-KR" altLang="en-US" dirty="0" smtClean="0"/>
              <a:t>대화 창 </a:t>
            </a:r>
            <a:r>
              <a:rPr lang="ko-KR" altLang="en-US" dirty="0"/>
              <a:t>안에서 너무 많은 주제로 대화하게 된다 그로 인해 검색하더라도 찾기가 어려워질 수 있다</a:t>
            </a:r>
            <a:r>
              <a:rPr lang="en-US" altLang="ko-KR" dirty="0" smtClean="0"/>
              <a:t>.</a:t>
            </a:r>
            <a:endParaRPr lang="ko-KR" altLang="en-US" b="1" cap="all" dirty="0" smtClean="0"/>
          </a:p>
          <a:p>
            <a:pPr marL="457200" lvl="1" indent="0" fontAlgn="base">
              <a:lnSpc>
                <a:spcPct val="100000"/>
              </a:lnSpc>
              <a:buFont typeface="Arial" panose="020B0604020202020204" pitchFamily="34" charset="0"/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906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140035" y="631361"/>
            <a:ext cx="43829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1) </a:t>
            </a:r>
            <a:r>
              <a:rPr lang="ko-KR" altLang="en-US" sz="2400" dirty="0" smtClean="0"/>
              <a:t>다운로드</a:t>
            </a:r>
            <a:r>
              <a:rPr lang="en-US" altLang="ko-KR" sz="2400" dirty="0" smtClean="0"/>
              <a:t>(64)</a:t>
            </a:r>
            <a:r>
              <a:rPr lang="ko-KR" altLang="en-US" sz="2400" dirty="0" smtClean="0"/>
              <a:t>비트 버튼 클릭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r>
              <a:rPr lang="en-US" altLang="ko-KR" sz="2400" dirty="0" smtClean="0"/>
              <a:t>2) Exe </a:t>
            </a:r>
            <a:r>
              <a:rPr lang="ko-KR" altLang="en-US" sz="2400" dirty="0" smtClean="0"/>
              <a:t>파일 더블클릭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r>
              <a:rPr lang="en-US" altLang="ko-KR" sz="2400" dirty="0" smtClean="0"/>
              <a:t>3) </a:t>
            </a:r>
            <a:r>
              <a:rPr lang="ko-KR" altLang="en-US" sz="2400" dirty="0" smtClean="0"/>
              <a:t>확인 클릭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 </a:t>
            </a:r>
            <a:r>
              <a:rPr lang="en-US" altLang="ko-KR" sz="2400" dirty="0" smtClean="0"/>
              <a:t>	   </a:t>
            </a:r>
            <a:r>
              <a:rPr lang="ko-KR" altLang="en-US" sz="2400" dirty="0" smtClean="0"/>
              <a:t>설치 완료</a:t>
            </a:r>
            <a:endParaRPr lang="ko-KR" altLang="en-US" sz="2400" dirty="0"/>
          </a:p>
        </p:txBody>
      </p:sp>
      <p:grpSp>
        <p:nvGrpSpPr>
          <p:cNvPr id="13" name="그룹 12"/>
          <p:cNvGrpSpPr/>
          <p:nvPr/>
        </p:nvGrpSpPr>
        <p:grpSpPr>
          <a:xfrm>
            <a:off x="7325514" y="3717563"/>
            <a:ext cx="2885277" cy="1257375"/>
            <a:chOff x="7079846" y="1273365"/>
            <a:chExt cx="2885277" cy="1257375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1753" y="1504197"/>
              <a:ext cx="2593370" cy="1026543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079846" y="1273365"/>
              <a:ext cx="5838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 smtClean="0">
                  <a:solidFill>
                    <a:srgbClr val="FF0000"/>
                  </a:solidFill>
                </a:rPr>
                <a:t>(2)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945335" y="3316859"/>
            <a:ext cx="5374442" cy="2977008"/>
            <a:chOff x="1837305" y="1965862"/>
            <a:chExt cx="6353491" cy="441993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3027" y="1965862"/>
              <a:ext cx="4658726" cy="381977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2281614" y="6016468"/>
              <a:ext cx="59091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/>
                <a:t>주소 </a:t>
              </a:r>
              <a:r>
                <a:rPr lang="en-US" altLang="ko-KR" dirty="0" smtClean="0"/>
                <a:t>: </a:t>
              </a:r>
              <a:r>
                <a:rPr lang="en-US" altLang="ko-KR" dirty="0" smtClean="0">
                  <a:hlinkClick r:id="rId4"/>
                </a:rPr>
                <a:t>https://slack.com/intl/ko-kr/downloads/windows</a:t>
              </a:r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766201" y="4146133"/>
              <a:ext cx="1520773" cy="558125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37305" y="3965932"/>
              <a:ext cx="583814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 smtClean="0">
                  <a:solidFill>
                    <a:srgbClr val="FF0000"/>
                  </a:solidFill>
                </a:rPr>
                <a:t>(1)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다운로드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7143750" y="476003"/>
            <a:ext cx="4588330" cy="2735036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5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7657689" y="4402954"/>
            <a:ext cx="2553102" cy="51362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94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로그인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82" t="16587" r="42424" b="19797"/>
          <a:stretch/>
        </p:blipFill>
        <p:spPr>
          <a:xfrm>
            <a:off x="646067" y="3577505"/>
            <a:ext cx="2544444" cy="266700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254" y="3577505"/>
            <a:ext cx="2656189" cy="2553535"/>
          </a:xfrm>
          <a:prstGeom prst="rect">
            <a:avLst/>
          </a:prstGeom>
        </p:spPr>
      </p:pic>
      <p:grpSp>
        <p:nvGrpSpPr>
          <p:cNvPr id="14" name="그룹 13"/>
          <p:cNvGrpSpPr/>
          <p:nvPr/>
        </p:nvGrpSpPr>
        <p:grpSpPr>
          <a:xfrm>
            <a:off x="213778" y="5313345"/>
            <a:ext cx="2093156" cy="400927"/>
            <a:chOff x="455171" y="3219753"/>
            <a:chExt cx="2316470" cy="461665"/>
          </a:xfrm>
        </p:grpSpPr>
        <p:sp>
          <p:nvSpPr>
            <p:cNvPr id="6" name="직사각형 5"/>
            <p:cNvSpPr/>
            <p:nvPr/>
          </p:nvSpPr>
          <p:spPr>
            <a:xfrm>
              <a:off x="1152391" y="3331793"/>
              <a:ext cx="1619250" cy="325808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u="sng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5171" y="3219753"/>
              <a:ext cx="5838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u="sng" dirty="0" smtClean="0">
                  <a:solidFill>
                    <a:srgbClr val="FF0000"/>
                  </a:solidFill>
                </a:rPr>
                <a:t>(1)</a:t>
              </a:r>
              <a:endParaRPr lang="ko-KR" altLang="en-US" sz="2400" b="1" u="sng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3882281" y="5437673"/>
            <a:ext cx="2587967" cy="693366"/>
            <a:chOff x="455171" y="3219753"/>
            <a:chExt cx="2864071" cy="798406"/>
          </a:xfrm>
        </p:grpSpPr>
        <p:sp>
          <p:nvSpPr>
            <p:cNvPr id="16" name="직사각형 15"/>
            <p:cNvSpPr/>
            <p:nvPr/>
          </p:nvSpPr>
          <p:spPr>
            <a:xfrm>
              <a:off x="1059058" y="3331792"/>
              <a:ext cx="2260184" cy="686367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u="sng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55171" y="3219753"/>
              <a:ext cx="646100" cy="531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u="sng" dirty="0" smtClean="0">
                  <a:solidFill>
                    <a:srgbClr val="FF0000"/>
                  </a:solidFill>
                </a:rPr>
                <a:t>(2)</a:t>
              </a:r>
              <a:endParaRPr lang="ko-KR" altLang="en-US" sz="2400" b="1" u="sng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7592809" y="4346735"/>
            <a:ext cx="3690212" cy="1645329"/>
            <a:chOff x="7034085" y="1815692"/>
            <a:chExt cx="4319715" cy="1804988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3786" y="1815692"/>
              <a:ext cx="3970014" cy="1804988"/>
            </a:xfrm>
            <a:prstGeom prst="rect">
              <a:avLst/>
            </a:prstGeom>
          </p:spPr>
        </p:pic>
        <p:grpSp>
          <p:nvGrpSpPr>
            <p:cNvPr id="18" name="그룹 17"/>
            <p:cNvGrpSpPr/>
            <p:nvPr/>
          </p:nvGrpSpPr>
          <p:grpSpPr>
            <a:xfrm>
              <a:off x="7034085" y="2670101"/>
              <a:ext cx="3829049" cy="531430"/>
              <a:chOff x="781667" y="3331792"/>
              <a:chExt cx="1989974" cy="325809"/>
            </a:xfrm>
          </p:grpSpPr>
          <p:sp>
            <p:nvSpPr>
              <p:cNvPr id="19" name="직사각형 18"/>
              <p:cNvSpPr/>
              <p:nvPr/>
            </p:nvSpPr>
            <p:spPr>
              <a:xfrm>
                <a:off x="1152391" y="3331793"/>
                <a:ext cx="1619250" cy="325808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u="sng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81667" y="3331792"/>
                <a:ext cx="319604" cy="283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u="sng" dirty="0" smtClean="0">
                    <a:solidFill>
                      <a:srgbClr val="FF0000"/>
                    </a:solidFill>
                  </a:rPr>
                  <a:t>(3)</a:t>
                </a:r>
                <a:endParaRPr lang="ko-KR" altLang="en-US" sz="2400" b="1" u="sng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27" name="TextBox 26"/>
          <p:cNvSpPr txBox="1"/>
          <p:nvPr/>
        </p:nvSpPr>
        <p:spPr>
          <a:xfrm>
            <a:off x="7276105" y="759360"/>
            <a:ext cx="43236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1) </a:t>
            </a:r>
            <a:r>
              <a:rPr lang="ko-KR" altLang="en-US" sz="2400" dirty="0" smtClean="0"/>
              <a:t>로그인 버튼 클릭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r>
              <a:rPr lang="en-US" altLang="ko-KR" sz="2400" dirty="0" smtClean="0"/>
              <a:t>2) </a:t>
            </a:r>
            <a:r>
              <a:rPr lang="ko-KR" altLang="en-US" sz="2400" dirty="0" smtClean="0"/>
              <a:t>로그인 방식 선택 </a:t>
            </a:r>
            <a:r>
              <a:rPr lang="en-US" altLang="ko-KR" sz="2400" dirty="0" smtClean="0"/>
              <a:t>&amp; </a:t>
            </a:r>
            <a:r>
              <a:rPr lang="ko-KR" altLang="en-US" sz="2400" dirty="0" smtClean="0"/>
              <a:t>로그인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r>
              <a:rPr lang="en-US" altLang="ko-KR" sz="2400" dirty="0" smtClean="0"/>
              <a:t>3) </a:t>
            </a:r>
            <a:r>
              <a:rPr lang="ko-KR" altLang="en-US" sz="2400" dirty="0" smtClean="0"/>
              <a:t>확인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 </a:t>
            </a:r>
            <a:r>
              <a:rPr lang="en-US" altLang="ko-KR" sz="2400" dirty="0" smtClean="0"/>
              <a:t>	   </a:t>
            </a:r>
            <a:r>
              <a:rPr lang="ko-KR" altLang="en-US" sz="2400" dirty="0" smtClean="0"/>
              <a:t>로그인 완료</a:t>
            </a:r>
            <a:endParaRPr lang="ko-KR" altLang="en-US" sz="2400" dirty="0"/>
          </a:p>
        </p:txBody>
      </p:sp>
      <p:sp>
        <p:nvSpPr>
          <p:cNvPr id="22" name="직사각형 21"/>
          <p:cNvSpPr/>
          <p:nvPr/>
        </p:nvSpPr>
        <p:spPr>
          <a:xfrm>
            <a:off x="7143750" y="476003"/>
            <a:ext cx="4588330" cy="2735036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6</a:t>
            </a:fld>
            <a:r>
              <a:rPr lang="en-US" altLang="ko-KR" smtClean="0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226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Slack </a:t>
            </a:r>
            <a:r>
              <a:rPr lang="ko-KR" altLang="en-US" dirty="0" smtClean="0"/>
              <a:t>데스크톱 연동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515" y="3832117"/>
            <a:ext cx="2573755" cy="2396566"/>
          </a:xfrm>
          <a:prstGeom prst="rect">
            <a:avLst/>
          </a:prstGeom>
        </p:spPr>
      </p:pic>
      <p:grpSp>
        <p:nvGrpSpPr>
          <p:cNvPr id="29" name="그룹 28"/>
          <p:cNvGrpSpPr/>
          <p:nvPr/>
        </p:nvGrpSpPr>
        <p:grpSpPr>
          <a:xfrm>
            <a:off x="1792158" y="4398732"/>
            <a:ext cx="908456" cy="369332"/>
            <a:chOff x="4002882" y="3048138"/>
            <a:chExt cx="1371974" cy="423241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29071" y="3091838"/>
              <a:ext cx="745785" cy="357225"/>
            </a:xfrm>
            <a:prstGeom prst="rect">
              <a:avLst/>
            </a:prstGeom>
          </p:spPr>
        </p:pic>
        <p:grpSp>
          <p:nvGrpSpPr>
            <p:cNvPr id="28" name="그룹 27"/>
            <p:cNvGrpSpPr/>
            <p:nvPr/>
          </p:nvGrpSpPr>
          <p:grpSpPr>
            <a:xfrm>
              <a:off x="4002882" y="3048138"/>
              <a:ext cx="1371973" cy="423241"/>
              <a:chOff x="4002882" y="3048138"/>
              <a:chExt cx="1371973" cy="423241"/>
            </a:xfrm>
          </p:grpSpPr>
          <p:sp>
            <p:nvSpPr>
              <p:cNvPr id="10" name="직사각형 9"/>
              <p:cNvSpPr/>
              <p:nvPr/>
            </p:nvSpPr>
            <p:spPr>
              <a:xfrm>
                <a:off x="4652027" y="3091838"/>
                <a:ext cx="722828" cy="357227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u="sng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002882" y="3048138"/>
                <a:ext cx="731596" cy="423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u="sng" dirty="0" smtClean="0">
                    <a:solidFill>
                      <a:srgbClr val="FF0000"/>
                    </a:solidFill>
                  </a:rPr>
                  <a:t>(2)</a:t>
                </a:r>
                <a:endParaRPr lang="ko-KR" altLang="en-US" sz="2400" b="1" u="sng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16" name="그룹 15"/>
          <p:cNvGrpSpPr/>
          <p:nvPr/>
        </p:nvGrpSpPr>
        <p:grpSpPr>
          <a:xfrm>
            <a:off x="4895563" y="4057572"/>
            <a:ext cx="2761659" cy="2406750"/>
            <a:chOff x="5403430" y="2742171"/>
            <a:chExt cx="3038032" cy="2667007"/>
          </a:xfrm>
        </p:grpSpPr>
        <p:pic>
          <p:nvPicPr>
            <p:cNvPr id="12" name="내용 개체 틀 3"/>
            <p:cNvPicPr>
              <a:picLocks noChangeAspect="1"/>
            </p:cNvPicPr>
            <p:nvPr/>
          </p:nvPicPr>
          <p:blipFill rotWithShape="1">
            <a:blip r:embed="rId4"/>
            <a:srcRect l="4982" t="16587" r="42424" b="19797"/>
            <a:stretch/>
          </p:blipFill>
          <p:spPr>
            <a:xfrm>
              <a:off x="5897018" y="2742171"/>
              <a:ext cx="2544444" cy="2667007"/>
            </a:xfrm>
            <a:prstGeom prst="rect">
              <a:avLst/>
            </a:prstGeom>
          </p:spPr>
        </p:pic>
        <p:grpSp>
          <p:nvGrpSpPr>
            <p:cNvPr id="13" name="그룹 12"/>
            <p:cNvGrpSpPr/>
            <p:nvPr/>
          </p:nvGrpSpPr>
          <p:grpSpPr>
            <a:xfrm>
              <a:off x="5403430" y="4476547"/>
              <a:ext cx="2148277" cy="461665"/>
              <a:chOff x="455171" y="3219753"/>
              <a:chExt cx="2377472" cy="531604"/>
            </a:xfrm>
          </p:grpSpPr>
          <p:sp>
            <p:nvSpPr>
              <p:cNvPr id="14" name="직사각형 13"/>
              <p:cNvSpPr/>
              <p:nvPr/>
            </p:nvSpPr>
            <p:spPr>
              <a:xfrm>
                <a:off x="1243777" y="3331793"/>
                <a:ext cx="1588866" cy="41956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u="sng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55171" y="3219753"/>
                <a:ext cx="646100" cy="531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u="sng" dirty="0" smtClean="0">
                    <a:solidFill>
                      <a:srgbClr val="FF0000"/>
                    </a:solidFill>
                  </a:rPr>
                  <a:t>(4)</a:t>
                </a:r>
                <a:endParaRPr lang="ko-KR" altLang="en-US" sz="2400" b="1" u="sng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27" name="그룹 26"/>
          <p:cNvGrpSpPr/>
          <p:nvPr/>
        </p:nvGrpSpPr>
        <p:grpSpPr>
          <a:xfrm>
            <a:off x="2687183" y="4250271"/>
            <a:ext cx="2660543" cy="2214051"/>
            <a:chOff x="5505475" y="3806994"/>
            <a:chExt cx="3504176" cy="2683834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05475" y="3806994"/>
              <a:ext cx="3504176" cy="2683834"/>
            </a:xfrm>
            <a:prstGeom prst="rect">
              <a:avLst/>
            </a:prstGeom>
          </p:spPr>
        </p:pic>
        <p:sp>
          <p:nvSpPr>
            <p:cNvPr id="18" name="직사각형 17"/>
            <p:cNvSpPr/>
            <p:nvPr/>
          </p:nvSpPr>
          <p:spPr>
            <a:xfrm>
              <a:off x="8046349" y="5341479"/>
              <a:ext cx="814971" cy="23877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u="sng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387470" y="5148911"/>
              <a:ext cx="5838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u="sng" dirty="0" smtClean="0">
                  <a:solidFill>
                    <a:srgbClr val="FF0000"/>
                  </a:solidFill>
                </a:rPr>
                <a:t>(3)</a:t>
              </a:r>
              <a:endParaRPr lang="ko-KR" altLang="en-US" sz="2400" b="1" u="sng" dirty="0">
                <a:solidFill>
                  <a:srgbClr val="FF0000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470856" y="413432"/>
            <a:ext cx="418095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1) </a:t>
            </a:r>
            <a:r>
              <a:rPr lang="ko-KR" altLang="en-US" sz="2400" dirty="0" smtClean="0"/>
              <a:t>원하는 워크스페이스 선택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r>
              <a:rPr lang="en-US" altLang="ko-KR" sz="2400" dirty="0" smtClean="0"/>
              <a:t>2 </a:t>
            </a:r>
            <a:r>
              <a:rPr lang="ko-KR" altLang="en-US" sz="2400" dirty="0" smtClean="0"/>
              <a:t>열기 버튼 클릭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r>
              <a:rPr lang="en-US" altLang="ko-KR" sz="2400" dirty="0" smtClean="0"/>
              <a:t>3) </a:t>
            </a:r>
            <a:r>
              <a:rPr lang="ko-KR" altLang="en-US" sz="2400" dirty="0" smtClean="0"/>
              <a:t>워크 스페이스 선택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4) </a:t>
            </a:r>
            <a:r>
              <a:rPr lang="ko-KR" altLang="en-US" sz="2400" dirty="0" smtClean="0"/>
              <a:t>로딩 후 초록 버튼 클릭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 smtClean="0"/>
              <a:t>5) </a:t>
            </a:r>
            <a:r>
              <a:rPr lang="ko-KR" altLang="en-US" sz="2400" dirty="0" smtClean="0"/>
              <a:t>원하는 워크스페이스 열기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 smtClean="0"/>
              <a:t>	</a:t>
            </a:r>
            <a:endParaRPr lang="ko-KR" altLang="en-US" sz="2400" dirty="0"/>
          </a:p>
        </p:txBody>
      </p:sp>
      <p:sp>
        <p:nvSpPr>
          <p:cNvPr id="25" name="직사각형 24"/>
          <p:cNvSpPr/>
          <p:nvPr/>
        </p:nvSpPr>
        <p:spPr>
          <a:xfrm>
            <a:off x="452751" y="5321563"/>
            <a:ext cx="142013" cy="1998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26" name="TextBox 25"/>
          <p:cNvSpPr txBox="1"/>
          <p:nvPr/>
        </p:nvSpPr>
        <p:spPr>
          <a:xfrm>
            <a:off x="-120972" y="5218051"/>
            <a:ext cx="498659" cy="372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 smtClean="0">
                <a:solidFill>
                  <a:srgbClr val="FF0000"/>
                </a:solidFill>
              </a:rPr>
              <a:t>(1)</a:t>
            </a:r>
            <a:endParaRPr lang="ko-KR" altLang="en-US" b="1" u="sng" dirty="0">
              <a:solidFill>
                <a:srgbClr val="FF000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7143750" y="476003"/>
            <a:ext cx="4588330" cy="2735036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7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710" y="4058588"/>
            <a:ext cx="3769243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3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연동 시 로그인 오류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863" y="4043679"/>
            <a:ext cx="3611812" cy="2041843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143750" y="476003"/>
            <a:ext cx="4588330" cy="2735036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287976" y="1250534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smtClean="0"/>
              <a:t>로그인 키 복사 버튼 클릭</a:t>
            </a:r>
            <a:endParaRPr lang="en-US" altLang="ko-KR" sz="2400" dirty="0" smtClean="0"/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smtClean="0"/>
              <a:t>창을 닫고 앱으로 돌아가기</a:t>
            </a:r>
            <a:r>
              <a:rPr lang="en-US" altLang="ko-KR" sz="2400" dirty="0" smtClean="0"/>
              <a:t>	</a:t>
            </a:r>
            <a:endParaRPr lang="ko-KR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309407" y="5219674"/>
            <a:ext cx="53303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버튼을 누른다면 </a:t>
            </a:r>
            <a:r>
              <a:rPr lang="en-US" altLang="ko-KR" sz="1600" dirty="0" smtClean="0"/>
              <a:t>slack </a:t>
            </a:r>
            <a:r>
              <a:rPr lang="ko-KR" altLang="en-US" sz="1600" dirty="0" smtClean="0"/>
              <a:t>에서 앱을 짜잔</a:t>
            </a:r>
            <a:r>
              <a:rPr lang="en-US" altLang="ko-KR" sz="1600" dirty="0" smtClean="0"/>
              <a:t>! </a:t>
            </a:r>
            <a:r>
              <a:rPr lang="ko-KR" altLang="en-US" sz="1600" dirty="0" smtClean="0"/>
              <a:t>하고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열어 줍니다</a:t>
            </a:r>
            <a:r>
              <a:rPr lang="en-US" altLang="ko-KR" sz="1600" dirty="0" smtClean="0"/>
              <a:t>.</a:t>
            </a:r>
            <a:r>
              <a:rPr lang="en-US" altLang="ko-KR" sz="2400" dirty="0"/>
              <a:t> </a:t>
            </a:r>
            <a:r>
              <a:rPr lang="ko-KR" altLang="en-US" sz="1600" dirty="0" smtClean="0"/>
              <a:t>창을 닫고 앱으로 돌아가면 </a:t>
            </a:r>
            <a:r>
              <a:rPr lang="ko-KR" altLang="en-US" sz="1600" dirty="0" smtClean="0"/>
              <a:t>켜져 있습니다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8" name="직사각형 7"/>
          <p:cNvSpPr/>
          <p:nvPr/>
        </p:nvSpPr>
        <p:spPr>
          <a:xfrm>
            <a:off x="2044765" y="5506720"/>
            <a:ext cx="774115" cy="21421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9" name="TextBox 8"/>
          <p:cNvSpPr txBox="1"/>
          <p:nvPr/>
        </p:nvSpPr>
        <p:spPr>
          <a:xfrm>
            <a:off x="1471042" y="5417558"/>
            <a:ext cx="498659" cy="372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 smtClean="0">
                <a:solidFill>
                  <a:srgbClr val="FF0000"/>
                </a:solidFill>
              </a:rPr>
              <a:t>(1)</a:t>
            </a:r>
            <a:endParaRPr lang="ko-KR" altLang="en-US" b="1" u="sng" dirty="0">
              <a:solidFill>
                <a:srgbClr val="FF0000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13" y="4566877"/>
            <a:ext cx="3572374" cy="609685"/>
          </a:xfrm>
          <a:prstGeom prst="rect">
            <a:avLst/>
          </a:prstGeom>
        </p:spPr>
      </p:pic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8</a:t>
            </a:fld>
            <a:r>
              <a:rPr lang="en-US" altLang="ko-KR" smtClean="0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45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910" y="476003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워크 스페이스가 없는 상태</a:t>
            </a:r>
            <a:endParaRPr lang="ko-KR" altLang="en-US" sz="3600" dirty="0"/>
          </a:p>
        </p:txBody>
      </p:sp>
      <p:sp>
        <p:nvSpPr>
          <p:cNvPr id="4" name="직사각형 3"/>
          <p:cNvSpPr/>
          <p:nvPr/>
        </p:nvSpPr>
        <p:spPr>
          <a:xfrm>
            <a:off x="7143750" y="476003"/>
            <a:ext cx="4588330" cy="2735036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357858" y="1138784"/>
            <a:ext cx="41601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smtClean="0"/>
              <a:t>생성 버튼 클릭 후 로그인</a:t>
            </a:r>
            <a:endParaRPr lang="en-US" altLang="ko-KR" sz="2400" dirty="0" smtClean="0"/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smtClean="0"/>
              <a:t>생성 지문 입력</a:t>
            </a:r>
            <a:endParaRPr lang="ko-KR" altLang="en-US" sz="2400" dirty="0"/>
          </a:p>
        </p:txBody>
      </p:sp>
      <p:grpSp>
        <p:nvGrpSpPr>
          <p:cNvPr id="23" name="그룹 22"/>
          <p:cNvGrpSpPr/>
          <p:nvPr/>
        </p:nvGrpSpPr>
        <p:grpSpPr>
          <a:xfrm>
            <a:off x="534204" y="2701753"/>
            <a:ext cx="4108750" cy="3228480"/>
            <a:chOff x="587412" y="1950720"/>
            <a:chExt cx="5443391" cy="4488799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412" y="1950720"/>
              <a:ext cx="5443391" cy="4488798"/>
            </a:xfrm>
            <a:prstGeom prst="rect">
              <a:avLst/>
            </a:prstGeom>
          </p:spPr>
        </p:pic>
        <p:grpSp>
          <p:nvGrpSpPr>
            <p:cNvPr id="22" name="그룹 21"/>
            <p:cNvGrpSpPr/>
            <p:nvPr/>
          </p:nvGrpSpPr>
          <p:grpSpPr>
            <a:xfrm>
              <a:off x="2529366" y="5077889"/>
              <a:ext cx="3038317" cy="1361630"/>
              <a:chOff x="6176705" y="4975025"/>
              <a:chExt cx="3959842" cy="1707726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6176705" y="4975025"/>
                <a:ext cx="1750666" cy="787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u="sng" dirty="0" smtClean="0">
                    <a:solidFill>
                      <a:srgbClr val="FF0000"/>
                    </a:solidFill>
                  </a:rPr>
                  <a:t>(1)</a:t>
                </a:r>
                <a:endParaRPr lang="ko-KR" altLang="en-US" b="1" u="sng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20" name="내용 개체 틀 10"/>
              <p:cNvPicPr>
                <a:picLocks noChangeAspect="1"/>
              </p:cNvPicPr>
              <p:nvPr/>
            </p:nvPicPr>
            <p:blipFill rotWithShape="1">
              <a:blip r:embed="rId3"/>
              <a:srcRect l="48354" t="90309" r="18501"/>
              <a:stretch/>
            </p:blipFill>
            <p:spPr>
              <a:xfrm>
                <a:off x="7143750" y="5854677"/>
                <a:ext cx="2992797" cy="828074"/>
              </a:xfrm>
              <a:prstGeom prst="rect">
                <a:avLst/>
              </a:prstGeom>
            </p:spPr>
          </p:pic>
          <p:sp>
            <p:nvSpPr>
              <p:cNvPr id="8" name="직사각형 7"/>
              <p:cNvSpPr/>
              <p:nvPr/>
            </p:nvSpPr>
            <p:spPr>
              <a:xfrm>
                <a:off x="7132918" y="5871568"/>
                <a:ext cx="3003629" cy="662932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u="sng"/>
              </a:p>
            </p:txBody>
          </p:sp>
        </p:grpSp>
      </p:grpSp>
      <p:grpSp>
        <p:nvGrpSpPr>
          <p:cNvPr id="30" name="그룹 29"/>
          <p:cNvGrpSpPr/>
          <p:nvPr/>
        </p:nvGrpSpPr>
        <p:grpSpPr>
          <a:xfrm>
            <a:off x="4696163" y="3390233"/>
            <a:ext cx="7035917" cy="2539999"/>
            <a:chOff x="4696163" y="4180903"/>
            <a:chExt cx="6144557" cy="2057336"/>
          </a:xfrm>
        </p:grpSpPr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91272" y="4625149"/>
              <a:ext cx="1619600" cy="1434021"/>
            </a:xfrm>
            <a:prstGeom prst="rect">
              <a:avLst/>
            </a:prstGeom>
          </p:spPr>
        </p:pic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10872" y="4617230"/>
              <a:ext cx="1887661" cy="1434021"/>
            </a:xfrm>
            <a:prstGeom prst="rect">
              <a:avLst/>
            </a:prstGeom>
          </p:spPr>
        </p:pic>
        <p:pic>
          <p:nvPicPr>
            <p:cNvPr id="33" name="그림 3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98533" y="4575207"/>
              <a:ext cx="2140511" cy="1432925"/>
            </a:xfrm>
            <a:prstGeom prst="rect">
              <a:avLst/>
            </a:prstGeom>
          </p:spPr>
        </p:pic>
        <p:sp>
          <p:nvSpPr>
            <p:cNvPr id="34" name="직사각형 33"/>
            <p:cNvSpPr/>
            <p:nvPr/>
          </p:nvSpPr>
          <p:spPr>
            <a:xfrm>
              <a:off x="5099819" y="4575206"/>
              <a:ext cx="5740901" cy="1663033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u="sng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696163" y="4180903"/>
              <a:ext cx="7902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u="sng" dirty="0" smtClean="0">
                  <a:solidFill>
                    <a:srgbClr val="FF0000"/>
                  </a:solidFill>
                </a:rPr>
                <a:t>(2)</a:t>
              </a:r>
              <a:endParaRPr lang="ko-KR" altLang="en-US" b="1" u="sng" dirty="0">
                <a:solidFill>
                  <a:srgbClr val="FF0000"/>
                </a:solidFill>
              </a:endParaRPr>
            </a:p>
          </p:txBody>
        </p:sp>
      </p:grpSp>
      <p:sp>
        <p:nvSpPr>
          <p:cNvPr id="36" name="슬라이드 번호 개체 틀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9</a:t>
            </a:fld>
            <a:r>
              <a:rPr lang="en-US" altLang="ko-KR" smtClean="0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008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910" y="476003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워크 스페이스가 존재 하는 상태</a:t>
            </a:r>
            <a:endParaRPr lang="ko-KR" altLang="en-US" sz="3600" dirty="0"/>
          </a:p>
        </p:txBody>
      </p:sp>
      <p:sp>
        <p:nvSpPr>
          <p:cNvPr id="4" name="직사각형 3"/>
          <p:cNvSpPr/>
          <p:nvPr/>
        </p:nvSpPr>
        <p:spPr>
          <a:xfrm>
            <a:off x="7245752" y="476003"/>
            <a:ext cx="4486328" cy="2735036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408859" y="1243356"/>
            <a:ext cx="41601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smtClean="0"/>
              <a:t>생성 버튼 클릭 후 로그인</a:t>
            </a:r>
            <a:endParaRPr lang="en-US" altLang="ko-KR" sz="2400" dirty="0" smtClean="0"/>
          </a:p>
          <a:p>
            <a:pPr marL="457200" indent="-457200">
              <a:lnSpc>
                <a:spcPct val="150000"/>
              </a:lnSpc>
              <a:buFontTx/>
              <a:buAutoNum type="arabicParenR"/>
            </a:pPr>
            <a:r>
              <a:rPr lang="ko-KR" altLang="en-US" sz="2400" dirty="0"/>
              <a:t>생성 지문 </a:t>
            </a:r>
            <a:r>
              <a:rPr lang="ko-KR" altLang="en-US" sz="2400" dirty="0" smtClean="0"/>
              <a:t>입</a:t>
            </a:r>
            <a:r>
              <a:rPr lang="ko-KR" altLang="en-US" sz="2400" dirty="0"/>
              <a:t>력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38" y="2850716"/>
            <a:ext cx="4188999" cy="3283866"/>
          </a:xfrm>
          <a:prstGeom prst="rect">
            <a:avLst/>
          </a:prstGeom>
        </p:spPr>
      </p:pic>
      <p:grpSp>
        <p:nvGrpSpPr>
          <p:cNvPr id="19" name="그룹 18"/>
          <p:cNvGrpSpPr/>
          <p:nvPr/>
        </p:nvGrpSpPr>
        <p:grpSpPr>
          <a:xfrm>
            <a:off x="4696163" y="3390233"/>
            <a:ext cx="7035917" cy="2539999"/>
            <a:chOff x="4696163" y="4180903"/>
            <a:chExt cx="6144557" cy="2057336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91272" y="4625149"/>
              <a:ext cx="1619600" cy="1434021"/>
            </a:xfrm>
            <a:prstGeom prst="rect">
              <a:avLst/>
            </a:prstGeom>
          </p:spPr>
        </p:pic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10872" y="4617230"/>
              <a:ext cx="1887661" cy="1434021"/>
            </a:xfrm>
            <a:prstGeom prst="rect">
              <a:avLst/>
            </a:prstGeom>
          </p:spPr>
        </p:pic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98533" y="4575207"/>
              <a:ext cx="2140511" cy="1432925"/>
            </a:xfrm>
            <a:prstGeom prst="rect">
              <a:avLst/>
            </a:prstGeom>
          </p:spPr>
        </p:pic>
        <p:sp>
          <p:nvSpPr>
            <p:cNvPr id="32" name="직사각형 31"/>
            <p:cNvSpPr/>
            <p:nvPr/>
          </p:nvSpPr>
          <p:spPr>
            <a:xfrm>
              <a:off x="5099819" y="4575206"/>
              <a:ext cx="5740901" cy="1663033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u="sng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696163" y="4180903"/>
              <a:ext cx="7902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u="sng" dirty="0" smtClean="0">
                  <a:solidFill>
                    <a:srgbClr val="FF0000"/>
                  </a:solidFill>
                </a:rPr>
                <a:t>(2)</a:t>
              </a:r>
              <a:endParaRPr lang="ko-KR" altLang="en-US" b="1" u="sng" dirty="0">
                <a:solidFill>
                  <a:srgbClr val="FF0000"/>
                </a:solidFill>
              </a:endParaRPr>
            </a:p>
          </p:txBody>
        </p:sp>
      </p:grpSp>
      <p:sp>
        <p:nvSpPr>
          <p:cNvPr id="34" name="직사각형 33"/>
          <p:cNvSpPr/>
          <p:nvPr/>
        </p:nvSpPr>
        <p:spPr>
          <a:xfrm>
            <a:off x="2656069" y="5668321"/>
            <a:ext cx="2019567" cy="26191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35" name="TextBox 34"/>
          <p:cNvSpPr txBox="1"/>
          <p:nvPr/>
        </p:nvSpPr>
        <p:spPr>
          <a:xfrm>
            <a:off x="2656069" y="5276809"/>
            <a:ext cx="64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 smtClean="0">
                <a:solidFill>
                  <a:srgbClr val="FF0000"/>
                </a:solidFill>
              </a:rPr>
              <a:t>(1)</a:t>
            </a:r>
            <a:endParaRPr lang="ko-KR" altLang="en-US" b="1" u="sng" dirty="0">
              <a:solidFill>
                <a:srgbClr val="FF0000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10</a:t>
            </a:fld>
            <a:r>
              <a:rPr lang="en-US" altLang="ko-KR" smtClean="0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940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910" y="476003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새로운 채널 생성</a:t>
            </a:r>
            <a:endParaRPr lang="ko-KR" altLang="en-US" sz="3600" dirty="0"/>
          </a:p>
        </p:txBody>
      </p:sp>
      <p:sp>
        <p:nvSpPr>
          <p:cNvPr id="4" name="직사각형 3"/>
          <p:cNvSpPr/>
          <p:nvPr/>
        </p:nvSpPr>
        <p:spPr>
          <a:xfrm>
            <a:off x="7143750" y="476003"/>
            <a:ext cx="4588330" cy="2069077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357858" y="705809"/>
            <a:ext cx="33265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smtClean="0"/>
              <a:t>새 채널 생성 클릭</a:t>
            </a:r>
            <a:endParaRPr lang="en-US" altLang="ko-KR" sz="2400" dirty="0" smtClean="0"/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smtClean="0"/>
              <a:t>방 이름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설명 대입</a:t>
            </a:r>
            <a:endParaRPr lang="en-US" altLang="ko-KR" sz="2400" dirty="0" smtClean="0"/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smtClean="0"/>
              <a:t>대화할 사용자 추가</a:t>
            </a:r>
            <a:endParaRPr lang="en-US" altLang="ko-KR" sz="2400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11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46" y="1831480"/>
            <a:ext cx="2553056" cy="131463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46" y="3150225"/>
            <a:ext cx="3367304" cy="315976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750" y="3699762"/>
            <a:ext cx="3594302" cy="261022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7091" y="3121757"/>
            <a:ext cx="4234989" cy="3417155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628739" y="2329179"/>
            <a:ext cx="2019567" cy="26191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25" name="TextBox 24"/>
          <p:cNvSpPr txBox="1"/>
          <p:nvPr/>
        </p:nvSpPr>
        <p:spPr>
          <a:xfrm>
            <a:off x="2732640" y="2251616"/>
            <a:ext cx="64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 smtClean="0">
                <a:solidFill>
                  <a:srgbClr val="FF0000"/>
                </a:solidFill>
              </a:rPr>
              <a:t>(1)</a:t>
            </a:r>
            <a:endParaRPr lang="ko-KR" altLang="en-US" b="1" u="sng" dirty="0">
              <a:solidFill>
                <a:srgbClr val="FF0000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36219" y="4093203"/>
            <a:ext cx="2019567" cy="26191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27" name="TextBox 26"/>
          <p:cNvSpPr txBox="1"/>
          <p:nvPr/>
        </p:nvSpPr>
        <p:spPr>
          <a:xfrm>
            <a:off x="1154498" y="4351002"/>
            <a:ext cx="64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 smtClean="0">
                <a:solidFill>
                  <a:srgbClr val="FF0000"/>
                </a:solidFill>
              </a:rPr>
              <a:t>(2)</a:t>
            </a:r>
            <a:endParaRPr lang="ko-KR" altLang="en-US" b="1" u="sng" dirty="0">
              <a:solidFill>
                <a:srgbClr val="FF0000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98509" y="4724446"/>
            <a:ext cx="3003448" cy="31173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29" name="직사각형 28"/>
          <p:cNvSpPr/>
          <p:nvPr/>
        </p:nvSpPr>
        <p:spPr>
          <a:xfrm>
            <a:off x="3865812" y="4433737"/>
            <a:ext cx="3277937" cy="29071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36" name="TextBox 35"/>
          <p:cNvSpPr txBox="1"/>
          <p:nvPr/>
        </p:nvSpPr>
        <p:spPr>
          <a:xfrm>
            <a:off x="4537752" y="3997640"/>
            <a:ext cx="64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 smtClean="0">
                <a:solidFill>
                  <a:srgbClr val="FF0000"/>
                </a:solidFill>
              </a:rPr>
              <a:t>(3)</a:t>
            </a:r>
            <a:endParaRPr lang="ko-KR" altLang="en-US" b="1" u="sng" dirty="0">
              <a:solidFill>
                <a:srgbClr val="FF0000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9372012" y="6073355"/>
            <a:ext cx="2486687" cy="4732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38" name="직사각형 37"/>
          <p:cNvSpPr/>
          <p:nvPr/>
        </p:nvSpPr>
        <p:spPr>
          <a:xfrm>
            <a:off x="7527700" y="3188970"/>
            <a:ext cx="1642565" cy="2935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cxnSp>
        <p:nvCxnSpPr>
          <p:cNvPr id="14" name="직선 화살표 연결선 13"/>
          <p:cNvCxnSpPr>
            <a:stCxn id="38" idx="3"/>
            <a:endCxn id="21" idx="1"/>
          </p:cNvCxnSpPr>
          <p:nvPr/>
        </p:nvCxnSpPr>
        <p:spPr>
          <a:xfrm flipV="1">
            <a:off x="9170265" y="3334717"/>
            <a:ext cx="607052" cy="10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7" idx="0"/>
            <a:endCxn id="21" idx="2"/>
          </p:cNvCxnSpPr>
          <p:nvPr/>
        </p:nvCxnSpPr>
        <p:spPr>
          <a:xfrm flipH="1" flipV="1">
            <a:off x="10615355" y="3699762"/>
            <a:ext cx="1" cy="23735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9777317" y="2969671"/>
            <a:ext cx="1676076" cy="7300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채널 생성 때 입력했던 이름과 설명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185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채팅 스레드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03978" y="1438537"/>
            <a:ext cx="8155329" cy="492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smtClean="0"/>
              <a:t>Slack </a:t>
            </a:r>
            <a:r>
              <a:rPr lang="ko-KR" altLang="en-US" sz="2000" dirty="0" smtClean="0"/>
              <a:t>은 채팅을 편하게 해주는 스레드 기능이 있다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12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143750" y="476003"/>
            <a:ext cx="4588330" cy="2069077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357858" y="705809"/>
            <a:ext cx="44678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smtClean="0"/>
              <a:t>채팅 방 의 채팅에 마우스를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r>
              <a:rPr lang="ko-KR" altLang="en-US" sz="2400" dirty="0" smtClean="0"/>
              <a:t>올려 스레드 선택 후 생성</a:t>
            </a:r>
            <a:endParaRPr lang="en-US" altLang="ko-KR" sz="2400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33" y="2830992"/>
            <a:ext cx="3486637" cy="80021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832" y="2366268"/>
            <a:ext cx="1860452" cy="120565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643" y="5127028"/>
            <a:ext cx="3232640" cy="60407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59" y="4548746"/>
            <a:ext cx="3210373" cy="1807604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3725213" y="2861323"/>
            <a:ext cx="354438" cy="2155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12" name="TextBox 11"/>
          <p:cNvSpPr txBox="1"/>
          <p:nvPr/>
        </p:nvSpPr>
        <p:spPr>
          <a:xfrm>
            <a:off x="3725213" y="2474151"/>
            <a:ext cx="47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 smtClean="0">
                <a:solidFill>
                  <a:srgbClr val="FF0000"/>
                </a:solidFill>
              </a:rPr>
              <a:t>(1)</a:t>
            </a:r>
            <a:endParaRPr lang="ko-KR" altLang="en-US" b="1" u="sng" dirty="0">
              <a:solidFill>
                <a:srgbClr val="FF0000"/>
              </a:solidFill>
            </a:endParaRPr>
          </a:p>
        </p:txBody>
      </p:sp>
      <p:cxnSp>
        <p:nvCxnSpPr>
          <p:cNvPr id="13" name="직선 화살표 연결선 12"/>
          <p:cNvCxnSpPr>
            <a:stCxn id="11" idx="3"/>
            <a:endCxn id="8" idx="1"/>
          </p:cNvCxnSpPr>
          <p:nvPr/>
        </p:nvCxnSpPr>
        <p:spPr>
          <a:xfrm>
            <a:off x="4079651" y="2969096"/>
            <a:ext cx="78518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953485" y="2160038"/>
            <a:ext cx="1897894" cy="3937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우측에 스레드 생성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656893" y="4778358"/>
            <a:ext cx="3953707" cy="3937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스레드 채팅 후 모습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>
            <a:stCxn id="10" idx="3"/>
            <a:endCxn id="9" idx="1"/>
          </p:cNvCxnSpPr>
          <p:nvPr/>
        </p:nvCxnSpPr>
        <p:spPr>
          <a:xfrm flipV="1">
            <a:off x="3902432" y="5429068"/>
            <a:ext cx="1079211" cy="23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544497" y="4130886"/>
            <a:ext cx="3953707" cy="3937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아래 사진처럼 내려가면서 채팅이 가능하다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20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채팅 호출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03978" y="1438537"/>
            <a:ext cx="8155329" cy="492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smtClean="0"/>
              <a:t>Slack </a:t>
            </a:r>
            <a:r>
              <a:rPr lang="ko-KR" altLang="en-US" sz="2000" dirty="0" smtClean="0"/>
              <a:t>은 상대방을 호출할 수 있는 기능이 있다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13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143750" y="476003"/>
            <a:ext cx="4588330" cy="2069077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357858" y="705809"/>
            <a:ext cx="44678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smtClean="0"/>
              <a:t>채팅 방 의 채팅에 마우스를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r>
              <a:rPr lang="ko-KR" altLang="en-US" sz="2400" dirty="0" smtClean="0"/>
              <a:t>올려 스레드 선택 후 생성</a:t>
            </a:r>
            <a:endParaRPr lang="en-US" altLang="ko-KR" sz="2400" dirty="0" smtClean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717" y="4421223"/>
            <a:ext cx="4629796" cy="101931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164" y="3282827"/>
            <a:ext cx="4848902" cy="1648055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1575717" y="4053515"/>
            <a:ext cx="2070308" cy="36770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cxnSp>
        <p:nvCxnSpPr>
          <p:cNvPr id="28" name="직선 화살표 연결선 27"/>
          <p:cNvCxnSpPr>
            <a:stCxn id="27" idx="3"/>
            <a:endCxn id="31" idx="1"/>
          </p:cNvCxnSpPr>
          <p:nvPr/>
        </p:nvCxnSpPr>
        <p:spPr>
          <a:xfrm flipV="1">
            <a:off x="3646025" y="4207572"/>
            <a:ext cx="3711833" cy="297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7357858" y="3470310"/>
            <a:ext cx="3815775" cy="14745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방 내부의 유저를 이름으로 호출 가능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59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검색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9335" y="1413783"/>
            <a:ext cx="8155329" cy="492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smtClean="0"/>
              <a:t>Slack </a:t>
            </a:r>
            <a:r>
              <a:rPr lang="ko-KR" altLang="en-US" sz="2000" dirty="0" smtClean="0"/>
              <a:t>은 손쉽게 채팅 내역 또는 파일을 검색할 수 있다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14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143750" y="476003"/>
            <a:ext cx="4588330" cy="2069077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357858" y="705809"/>
            <a:ext cx="3435556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smtClean="0"/>
              <a:t>상단의 검색 창 이용</a:t>
            </a:r>
            <a:endParaRPr lang="en-US" altLang="ko-KR" sz="2400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390" y="1366793"/>
            <a:ext cx="3467584" cy="32389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488" y="2774886"/>
            <a:ext cx="4664176" cy="2769803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4252972" y="4380685"/>
            <a:ext cx="1827240" cy="9907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5293133" y="5429343"/>
            <a:ext cx="11575" cy="4745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4528717" y="6000740"/>
            <a:ext cx="1476016" cy="6245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채팅 내역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252972" y="3605144"/>
            <a:ext cx="623473" cy="31949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25" name="직사각형 24"/>
          <p:cNvSpPr/>
          <p:nvPr/>
        </p:nvSpPr>
        <p:spPr>
          <a:xfrm>
            <a:off x="2824486" y="6018302"/>
            <a:ext cx="1189402" cy="607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보낸 사람 설정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꺾인 연결선 25"/>
          <p:cNvCxnSpPr>
            <a:stCxn id="21" idx="1"/>
            <a:endCxn id="25" idx="0"/>
          </p:cNvCxnSpPr>
          <p:nvPr/>
        </p:nvCxnSpPr>
        <p:spPr>
          <a:xfrm rot="10800000" flipV="1">
            <a:off x="3419188" y="3764888"/>
            <a:ext cx="833785" cy="225341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5096364" y="3605144"/>
            <a:ext cx="1770926" cy="31949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cxnSp>
        <p:nvCxnSpPr>
          <p:cNvPr id="34" name="꺾인 연결선 33"/>
          <p:cNvCxnSpPr>
            <a:stCxn id="32" idx="3"/>
            <a:endCxn id="38" idx="0"/>
          </p:cNvCxnSpPr>
          <p:nvPr/>
        </p:nvCxnSpPr>
        <p:spPr>
          <a:xfrm>
            <a:off x="6867290" y="3764889"/>
            <a:ext cx="246973" cy="228631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6519562" y="6051204"/>
            <a:ext cx="1189402" cy="607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채널 위치</a:t>
            </a:r>
            <a:r>
              <a:rPr lang="en-US" altLang="ko-KR" sz="1400" dirty="0" smtClean="0">
                <a:solidFill>
                  <a:schemeClr val="tx1"/>
                </a:solidFill>
              </a:rPr>
              <a:t>&amp;</a:t>
            </a:r>
            <a:r>
              <a:rPr lang="ko-KR" altLang="en-US" sz="1400" dirty="0" smtClean="0">
                <a:solidFill>
                  <a:schemeClr val="tx1"/>
                </a:solidFill>
              </a:rPr>
              <a:t> 날짜 설정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66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채널 툴 추가 </a:t>
            </a:r>
            <a:r>
              <a:rPr lang="en-US" altLang="ko-KR" dirty="0"/>
              <a:t>.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9335" y="1413783"/>
            <a:ext cx="8155329" cy="492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smtClean="0"/>
              <a:t>Slack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여러 편리한 툴들을 지원한다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DDE2-6F8F-41D1-B9A3-1A791E278B73}" type="slidenum">
              <a:rPr lang="ko-KR" altLang="en-US" smtClean="0"/>
              <a:t>15</a:t>
            </a:fld>
            <a:r>
              <a:rPr lang="en-US" altLang="ko-KR" smtClean="0"/>
              <a:t>P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143750" y="476003"/>
            <a:ext cx="4588330" cy="2069077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357858" y="705809"/>
            <a:ext cx="41848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000" dirty="0" smtClean="0"/>
              <a:t>채널 </a:t>
            </a:r>
            <a:r>
              <a:rPr lang="ko-KR" altLang="en-US" sz="2000" dirty="0" err="1" smtClean="0"/>
              <a:t>우클릭</a:t>
            </a:r>
            <a:r>
              <a:rPr lang="ko-KR" altLang="en-US" sz="2000" dirty="0" smtClean="0"/>
              <a:t> 후 세부 정보 열기</a:t>
            </a:r>
            <a:endParaRPr lang="en-US" altLang="ko-KR" sz="2000" dirty="0" smtClean="0"/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000" dirty="0" smtClean="0"/>
              <a:t>통합 </a:t>
            </a:r>
            <a:r>
              <a:rPr lang="en-US" altLang="ko-KR" sz="2000" dirty="0" smtClean="0"/>
              <a:t>-&gt; </a:t>
            </a:r>
            <a:r>
              <a:rPr lang="ko-KR" altLang="en-US" sz="2000" dirty="0" smtClean="0"/>
              <a:t>앱 추가 버튼 클릭</a:t>
            </a:r>
            <a:endParaRPr lang="en-US" altLang="ko-KR" sz="2000" dirty="0" smtClean="0"/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000" dirty="0" smtClean="0"/>
              <a:t>원하는 앱 선택 후 설치</a:t>
            </a:r>
            <a:endParaRPr lang="en-US" altLang="ko-KR" sz="2000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86" y="4101934"/>
            <a:ext cx="2386207" cy="223742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670" y="3875962"/>
            <a:ext cx="3900746" cy="268937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359" y="4303889"/>
            <a:ext cx="3527306" cy="1713263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1155633" y="6064275"/>
            <a:ext cx="1663660" cy="2750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24" name="TextBox 23"/>
          <p:cNvSpPr txBox="1"/>
          <p:nvPr/>
        </p:nvSpPr>
        <p:spPr>
          <a:xfrm>
            <a:off x="2819293" y="5832486"/>
            <a:ext cx="47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 smtClean="0">
                <a:solidFill>
                  <a:srgbClr val="FF0000"/>
                </a:solidFill>
              </a:rPr>
              <a:t>(1)</a:t>
            </a:r>
            <a:endParaRPr lang="ko-KR" altLang="en-US" b="1" u="sng" dirty="0">
              <a:solidFill>
                <a:srgbClr val="FF000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833271" y="6154695"/>
            <a:ext cx="578476" cy="2750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28" name="TextBox 27"/>
          <p:cNvSpPr txBox="1"/>
          <p:nvPr/>
        </p:nvSpPr>
        <p:spPr>
          <a:xfrm>
            <a:off x="3359677" y="6154695"/>
            <a:ext cx="47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 smtClean="0">
                <a:solidFill>
                  <a:srgbClr val="FF0000"/>
                </a:solidFill>
              </a:rPr>
              <a:t>(2)</a:t>
            </a:r>
            <a:endParaRPr lang="ko-KR" altLang="en-US" b="1" u="sng" dirty="0">
              <a:solidFill>
                <a:srgbClr val="FF0000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1102289" y="5682679"/>
            <a:ext cx="440376" cy="2996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30" name="TextBox 29"/>
          <p:cNvSpPr txBox="1"/>
          <p:nvPr/>
        </p:nvSpPr>
        <p:spPr>
          <a:xfrm>
            <a:off x="10853035" y="5320546"/>
            <a:ext cx="53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 smtClean="0">
                <a:solidFill>
                  <a:srgbClr val="FF0000"/>
                </a:solidFill>
              </a:rPr>
              <a:t>(3)</a:t>
            </a:r>
            <a:endParaRPr lang="ko-KR" alt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34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52" y="2757182"/>
            <a:ext cx="3377092" cy="358217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채널 툴 추가 </a:t>
            </a:r>
            <a:r>
              <a:rPr lang="en-US" altLang="ko-KR" dirty="0" smtClean="0"/>
              <a:t>.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9335" y="1413783"/>
            <a:ext cx="8155329" cy="492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smtClean="0"/>
              <a:t>Slack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여러 편리한 툴들을 지원한다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sp>
        <p:nvSpPr>
          <p:cNvPr id="5" name="직사각형 4"/>
          <p:cNvSpPr/>
          <p:nvPr/>
        </p:nvSpPr>
        <p:spPr>
          <a:xfrm>
            <a:off x="7143750" y="476003"/>
            <a:ext cx="4588330" cy="2069077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357858" y="705809"/>
            <a:ext cx="4184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000" dirty="0" smtClean="0"/>
              <a:t>설치 허용 버튼 클릭</a:t>
            </a:r>
            <a:endParaRPr lang="en-US" altLang="ko-KR" sz="2000" dirty="0" smtClean="0"/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000" dirty="0" smtClean="0"/>
              <a:t>원하는 앱 선택 후 설치</a:t>
            </a:r>
            <a:endParaRPr lang="en-US" altLang="ko-KR" sz="2000" dirty="0" smtClean="0"/>
          </a:p>
        </p:txBody>
      </p:sp>
      <p:sp>
        <p:nvSpPr>
          <p:cNvPr id="23" name="직사각형 22"/>
          <p:cNvSpPr/>
          <p:nvPr/>
        </p:nvSpPr>
        <p:spPr>
          <a:xfrm>
            <a:off x="1930399" y="6045201"/>
            <a:ext cx="538481" cy="29416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sp>
        <p:nvSpPr>
          <p:cNvPr id="24" name="TextBox 23"/>
          <p:cNvSpPr txBox="1"/>
          <p:nvPr/>
        </p:nvSpPr>
        <p:spPr>
          <a:xfrm>
            <a:off x="1997494" y="5675869"/>
            <a:ext cx="47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 smtClean="0">
                <a:solidFill>
                  <a:srgbClr val="FF0000"/>
                </a:solidFill>
              </a:rPr>
              <a:t>(1)</a:t>
            </a:r>
            <a:endParaRPr lang="ko-KR" altLang="en-US" b="1" u="sng" dirty="0">
              <a:solidFill>
                <a:srgbClr val="FF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271" y="4190421"/>
            <a:ext cx="2684514" cy="1249121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4285271" y="4667901"/>
            <a:ext cx="2684514" cy="4654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/>
          </a:p>
        </p:txBody>
      </p:sp>
      <p:cxnSp>
        <p:nvCxnSpPr>
          <p:cNvPr id="20" name="꺾인 연결선 19"/>
          <p:cNvCxnSpPr>
            <a:stCxn id="19" idx="3"/>
          </p:cNvCxnSpPr>
          <p:nvPr/>
        </p:nvCxnSpPr>
        <p:spPr>
          <a:xfrm flipV="1">
            <a:off x="6969785" y="3937974"/>
            <a:ext cx="158696" cy="96265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6538492" y="3344656"/>
            <a:ext cx="1189402" cy="607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추가한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프로그램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5" name="꺾인 연결선 24"/>
          <p:cNvCxnSpPr>
            <a:stCxn id="19" idx="1"/>
            <a:endCxn id="26" idx="0"/>
          </p:cNvCxnSpPr>
          <p:nvPr/>
        </p:nvCxnSpPr>
        <p:spPr>
          <a:xfrm rot="10800000" flipH="1">
            <a:off x="4285271" y="3278536"/>
            <a:ext cx="1007868" cy="1622090"/>
          </a:xfrm>
          <a:prstGeom prst="bentConnector4">
            <a:avLst>
              <a:gd name="adj1" fmla="val -22682"/>
              <a:gd name="adj2" fmla="val 11409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4285271" y="3278536"/>
            <a:ext cx="2015736" cy="6731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새로 생긴 </a:t>
            </a:r>
            <a:r>
              <a:rPr lang="en-US" altLang="ko-KR" sz="1400" dirty="0" smtClean="0">
                <a:solidFill>
                  <a:schemeClr val="tx1"/>
                </a:solidFill>
              </a:rPr>
              <a:t>“</a:t>
            </a:r>
            <a:r>
              <a:rPr lang="ko-KR" altLang="en-US" sz="1400" dirty="0" smtClean="0">
                <a:solidFill>
                  <a:schemeClr val="tx1"/>
                </a:solidFill>
              </a:rPr>
              <a:t>앱</a:t>
            </a:r>
            <a:r>
              <a:rPr lang="en-US" altLang="ko-KR" sz="1400" dirty="0" smtClean="0">
                <a:solidFill>
                  <a:schemeClr val="tx1"/>
                </a:solidFill>
              </a:rPr>
              <a:t>”</a:t>
            </a:r>
            <a:r>
              <a:rPr lang="ko-KR" altLang="en-US" sz="1400" dirty="0" smtClean="0">
                <a:solidFill>
                  <a:schemeClr val="tx1"/>
                </a:solidFill>
              </a:rPr>
              <a:t> 페이지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&amp;</a:t>
            </a:r>
            <a:r>
              <a:rPr lang="ko-KR" altLang="en-US" sz="1400" dirty="0" smtClean="0">
                <a:solidFill>
                  <a:schemeClr val="tx1"/>
                </a:solidFill>
              </a:rPr>
              <a:t>앱 추가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022" y="2919632"/>
            <a:ext cx="2295845" cy="333422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438" y="3253054"/>
            <a:ext cx="2565431" cy="3501249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3"/>
          <a:srcRect l="-2638" t="72102"/>
          <a:stretch/>
        </p:blipFill>
        <p:spPr>
          <a:xfrm>
            <a:off x="6283453" y="5769406"/>
            <a:ext cx="1813670" cy="229382"/>
          </a:xfrm>
          <a:prstGeom prst="rect">
            <a:avLst/>
          </a:prstGeom>
        </p:spPr>
      </p:pic>
      <p:cxnSp>
        <p:nvCxnSpPr>
          <p:cNvPr id="42" name="꺾인 연결선 41"/>
          <p:cNvCxnSpPr>
            <a:stCxn id="38" idx="3"/>
            <a:endCxn id="36" idx="1"/>
          </p:cNvCxnSpPr>
          <p:nvPr/>
        </p:nvCxnSpPr>
        <p:spPr>
          <a:xfrm flipV="1">
            <a:off x="8097123" y="5003679"/>
            <a:ext cx="235315" cy="88041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6443154" y="6058803"/>
            <a:ext cx="1401192" cy="4990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빠른 이동 버튼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66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419</Words>
  <Application>Microsoft Office PowerPoint</Application>
  <PresentationFormat>와이드스크린</PresentationFormat>
  <Paragraphs>149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YDIYGO320</vt:lpstr>
      <vt:lpstr>돋움</vt:lpstr>
      <vt:lpstr>맑은 고딕</vt:lpstr>
      <vt:lpstr>-윤고딕330</vt:lpstr>
      <vt:lpstr>Arial</vt:lpstr>
      <vt:lpstr>Bahnschrift</vt:lpstr>
      <vt:lpstr>MV Boli</vt:lpstr>
      <vt:lpstr>Office 테마</vt:lpstr>
      <vt:lpstr>Slack  매뉴얼</vt:lpstr>
      <vt:lpstr>PowerPoint 프레젠테이션</vt:lpstr>
      <vt:lpstr>장점</vt:lpstr>
      <vt:lpstr>단점</vt:lpstr>
      <vt:lpstr>다운로드</vt:lpstr>
      <vt:lpstr>로그인</vt:lpstr>
      <vt:lpstr>Slack 데스크톱 연동</vt:lpstr>
      <vt:lpstr>연동 시 로그인 오류</vt:lpstr>
      <vt:lpstr>워크 스페이스가 없는 상태</vt:lpstr>
      <vt:lpstr>워크 스페이스가 존재 하는 상태</vt:lpstr>
      <vt:lpstr>새로운 채널 생성</vt:lpstr>
      <vt:lpstr>채팅 스레드</vt:lpstr>
      <vt:lpstr>채팅 호출</vt:lpstr>
      <vt:lpstr>검색</vt:lpstr>
      <vt:lpstr>채널 툴 추가 .1</vt:lpstr>
      <vt:lpstr>채널 툴 추가 .2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44</cp:revision>
  <dcterms:created xsi:type="dcterms:W3CDTF">2021-10-25T01:17:57Z</dcterms:created>
  <dcterms:modified xsi:type="dcterms:W3CDTF">2021-10-26T07:58:05Z</dcterms:modified>
</cp:coreProperties>
</file>